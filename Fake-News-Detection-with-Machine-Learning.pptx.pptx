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Source Serif Pro Bold" charset="1" panose="02040803050405020204"/>
      <p:regular r:id="rId20"/>
    </p:embeddedFont>
    <p:embeddedFont>
      <p:font typeface="Source Serif Pro" charset="1" panose="02040603050405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990839"/>
            <a:ext cx="9452677" cy="183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Fake News Detection with 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4161130"/>
            <a:ext cx="10367762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IBM PBEL Virtual Internship 2026 — Artificial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915252"/>
            <a:ext cx="9452677" cy="333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Presented by</a:t>
            </a:r>
          </a:p>
          <a:p>
            <a:pPr algn="l">
              <a:lnSpc>
                <a:spcPts val="4432"/>
              </a:lnSpc>
            </a:pPr>
            <a:r>
              <a:rPr lang="en-US" sz="2777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Aditya Prajapati</a:t>
            </a:r>
          </a:p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B.Tech CSE</a:t>
            </a:r>
          </a:p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Batch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2203380"/>
            <a:ext cx="9452677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3572732"/>
            <a:ext cx="4584402" cy="2542927"/>
            <a:chOff x="0" y="0"/>
            <a:chExt cx="6112535" cy="33905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12510" cy="3390646"/>
            </a:xfrm>
            <a:custGeom>
              <a:avLst/>
              <a:gdLst/>
              <a:ahLst/>
              <a:cxnLst/>
              <a:rect r="r" b="b" t="t" l="l"/>
              <a:pathLst>
                <a:path h="3390646" w="611251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5741" y="0"/>
                  </a:lnTo>
                  <a:cubicBezTo>
                    <a:pt x="6087110" y="0"/>
                    <a:pt x="6112510" y="25400"/>
                    <a:pt x="6112510" y="56769"/>
                  </a:cubicBezTo>
                  <a:lnTo>
                    <a:pt x="6112510" y="3333877"/>
                  </a:lnTo>
                  <a:cubicBezTo>
                    <a:pt x="6112510" y="3365246"/>
                    <a:pt x="6087110" y="3390646"/>
                    <a:pt x="6055741" y="3390646"/>
                  </a:cubicBezTo>
                  <a:lnTo>
                    <a:pt x="56769" y="3390646"/>
                  </a:lnTo>
                  <a:cubicBezTo>
                    <a:pt x="25400" y="3390646"/>
                    <a:pt x="0" y="3365246"/>
                    <a:pt x="0" y="3333877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39913" y="3827897"/>
            <a:ext cx="401693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What Is Fake News?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9913" y="4384253"/>
            <a:ext cx="4016931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False or misleading content passed off as real news.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24305" y="3572732"/>
            <a:ext cx="4584544" cy="2542927"/>
            <a:chOff x="0" y="0"/>
            <a:chExt cx="6112726" cy="33905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2764" cy="3390646"/>
            </a:xfrm>
            <a:custGeom>
              <a:avLst/>
              <a:gdLst/>
              <a:ahLst/>
              <a:cxnLst/>
              <a:rect r="r" b="b" t="t" l="l"/>
              <a:pathLst>
                <a:path h="3390646" w="611276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055995" y="0"/>
                  </a:lnTo>
                  <a:cubicBezTo>
                    <a:pt x="6087364" y="0"/>
                    <a:pt x="6112764" y="25400"/>
                    <a:pt x="6112764" y="56769"/>
                  </a:cubicBezTo>
                  <a:lnTo>
                    <a:pt x="6112764" y="3333877"/>
                  </a:lnTo>
                  <a:cubicBezTo>
                    <a:pt x="6112764" y="3365246"/>
                    <a:pt x="6087364" y="3390646"/>
                    <a:pt x="6055995" y="3390646"/>
                  </a:cubicBezTo>
                  <a:lnTo>
                    <a:pt x="56769" y="3390646"/>
                  </a:lnTo>
                  <a:cubicBezTo>
                    <a:pt x="25400" y="3390646"/>
                    <a:pt x="0" y="3365246"/>
                    <a:pt x="0" y="3333877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08035" y="3827897"/>
            <a:ext cx="401708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Why It Matters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08035" y="4384253"/>
            <a:ext cx="4017083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It spreads fast on social media and shapes opinions and elections.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6182" y="6399400"/>
            <a:ext cx="9452677" cy="1634966"/>
            <a:chOff x="0" y="0"/>
            <a:chExt cx="12603569" cy="21799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03607" cy="2179955"/>
            </a:xfrm>
            <a:custGeom>
              <a:avLst/>
              <a:gdLst/>
              <a:ahLst/>
              <a:cxnLst/>
              <a:rect r="r" b="b" t="t" l="l"/>
              <a:pathLst>
                <a:path h="2179955" w="1260360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46838" y="0"/>
                  </a:lnTo>
                  <a:cubicBezTo>
                    <a:pt x="12578207" y="0"/>
                    <a:pt x="12603607" y="25400"/>
                    <a:pt x="12603607" y="56769"/>
                  </a:cubicBezTo>
                  <a:lnTo>
                    <a:pt x="12603607" y="2123186"/>
                  </a:lnTo>
                  <a:cubicBezTo>
                    <a:pt x="12603607" y="2154555"/>
                    <a:pt x="12578207" y="2179955"/>
                    <a:pt x="12546838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139913" y="6654565"/>
            <a:ext cx="888521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Our Approach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9913" y="7210920"/>
            <a:ext cx="8885215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 use ML and NLP to classify articles as </a:t>
            </a: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Real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or </a:t>
            </a: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Fake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7927"/>
            <a:ext cx="16315868" cy="80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72993" y="3191885"/>
            <a:ext cx="8839333" cy="4972212"/>
            <a:chOff x="0" y="0"/>
            <a:chExt cx="11785778" cy="662961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785727" cy="6629654"/>
            </a:xfrm>
            <a:custGeom>
              <a:avLst/>
              <a:gdLst/>
              <a:ahLst/>
              <a:cxnLst/>
              <a:rect r="r" b="b" t="t" l="l"/>
              <a:pathLst>
                <a:path h="6629654" w="11785727">
                  <a:moveTo>
                    <a:pt x="0" y="0"/>
                  </a:moveTo>
                  <a:lnTo>
                    <a:pt x="11785727" y="0"/>
                  </a:lnTo>
                  <a:lnTo>
                    <a:pt x="11785727" y="6629654"/>
                  </a:lnTo>
                  <a:lnTo>
                    <a:pt x="0" y="6629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1990175" y="2357199"/>
            <a:ext cx="5328056" cy="1506722"/>
          </a:xfrm>
          <a:custGeom>
            <a:avLst/>
            <a:gdLst/>
            <a:ahLst/>
            <a:cxnLst/>
            <a:rect r="r" b="b" t="t" l="l"/>
            <a:pathLst>
              <a:path h="1506722" w="5328056">
                <a:moveTo>
                  <a:pt x="0" y="0"/>
                </a:moveTo>
                <a:lnTo>
                  <a:pt x="5328056" y="0"/>
                </a:lnTo>
                <a:lnTo>
                  <a:pt x="5328056" y="1506722"/>
                </a:lnTo>
                <a:lnTo>
                  <a:pt x="0" y="150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7" r="0" b="-51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74299" y="2598363"/>
            <a:ext cx="4674203" cy="43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Fast Spread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4299" y="3199209"/>
            <a:ext cx="4674203" cy="39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False claims reach millions in minutes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990175" y="4068870"/>
            <a:ext cx="5328056" cy="1506722"/>
          </a:xfrm>
          <a:custGeom>
            <a:avLst/>
            <a:gdLst/>
            <a:ahLst/>
            <a:cxnLst/>
            <a:rect r="r" b="b" t="t" l="l"/>
            <a:pathLst>
              <a:path h="1506722" w="5328056">
                <a:moveTo>
                  <a:pt x="0" y="0"/>
                </a:moveTo>
                <a:lnTo>
                  <a:pt x="5328056" y="0"/>
                </a:lnTo>
                <a:lnTo>
                  <a:pt x="5328056" y="1506722"/>
                </a:lnTo>
                <a:lnTo>
                  <a:pt x="0" y="150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7" r="0" b="-51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74299" y="4310024"/>
            <a:ext cx="4674203" cy="43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🔍</a:t>
            </a: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Manual Checks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74299" y="4910880"/>
            <a:ext cx="4674203" cy="39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Too slow to scale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990175" y="5780532"/>
            <a:ext cx="5328056" cy="1506722"/>
          </a:xfrm>
          <a:custGeom>
            <a:avLst/>
            <a:gdLst/>
            <a:ahLst/>
            <a:cxnLst/>
            <a:rect r="r" b="b" t="t" l="l"/>
            <a:pathLst>
              <a:path h="1506722" w="5328056">
                <a:moveTo>
                  <a:pt x="0" y="0"/>
                </a:moveTo>
                <a:lnTo>
                  <a:pt x="5328056" y="0"/>
                </a:lnTo>
                <a:lnTo>
                  <a:pt x="5328056" y="1506722"/>
                </a:lnTo>
                <a:lnTo>
                  <a:pt x="0" y="150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7" r="0" b="-51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374299" y="6021695"/>
            <a:ext cx="4674203" cy="43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🌐</a:t>
            </a: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Real 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4299" y="6622552"/>
            <a:ext cx="4674203" cy="39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It shapes elections, markets, and trust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1990175" y="7492203"/>
            <a:ext cx="5328056" cy="1506722"/>
          </a:xfrm>
          <a:custGeom>
            <a:avLst/>
            <a:gdLst/>
            <a:ahLst/>
            <a:cxnLst/>
            <a:rect r="r" b="b" t="t" l="l"/>
            <a:pathLst>
              <a:path h="1506722" w="5328056">
                <a:moveTo>
                  <a:pt x="0" y="0"/>
                </a:moveTo>
                <a:lnTo>
                  <a:pt x="5328056" y="0"/>
                </a:lnTo>
                <a:lnTo>
                  <a:pt x="5328056" y="1506722"/>
                </a:lnTo>
                <a:lnTo>
                  <a:pt x="0" y="150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7" r="0" b="-51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374299" y="7733367"/>
            <a:ext cx="4674203" cy="43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Why It Matters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74299" y="8334223"/>
            <a:ext cx="4674203" cy="39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 need accurate automated detection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07960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551158"/>
            <a:ext cx="487706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Fake News Detection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4107504"/>
            <a:ext cx="4877067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Detect fake news with machine learning and NLP.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95577" y="3019254"/>
            <a:ext cx="5710542" cy="5710685"/>
            <a:chOff x="0" y="0"/>
            <a:chExt cx="7614056" cy="761424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14031" cy="7614285"/>
            </a:xfrm>
            <a:custGeom>
              <a:avLst/>
              <a:gdLst/>
              <a:ahLst/>
              <a:cxnLst/>
              <a:rect r="r" b="b" t="t" l="l"/>
              <a:pathLst>
                <a:path h="7614285" w="7614031">
                  <a:moveTo>
                    <a:pt x="0" y="0"/>
                  </a:moveTo>
                  <a:lnTo>
                    <a:pt x="7614031" y="0"/>
                  </a:lnTo>
                  <a:lnTo>
                    <a:pt x="7614031" y="7614285"/>
                  </a:lnTo>
                  <a:lnTo>
                    <a:pt x="0" y="7614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89307" y="3973840"/>
            <a:ext cx="424482" cy="530685"/>
            <a:chOff x="0" y="0"/>
            <a:chExt cx="565976" cy="707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5974" cy="707585"/>
            </a:xfrm>
            <a:custGeom>
              <a:avLst/>
              <a:gdLst/>
              <a:ahLst/>
              <a:cxnLst/>
              <a:rect r="r" b="b" t="t" l="l"/>
              <a:pathLst>
                <a:path h="707585" w="565974">
                  <a:moveTo>
                    <a:pt x="0" y="0"/>
                  </a:moveTo>
                  <a:lnTo>
                    <a:pt x="565974" y="0"/>
                  </a:lnTo>
                  <a:lnTo>
                    <a:pt x="565974" y="707585"/>
                  </a:lnTo>
                  <a:lnTo>
                    <a:pt x="0" y="707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4" t="0" r="-110405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65976" cy="736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431639" y="3778148"/>
            <a:ext cx="487721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TF-IDF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1639" y="4334504"/>
            <a:ext cx="487721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Convert text into numbers.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95577" y="3019254"/>
            <a:ext cx="5710542" cy="5710685"/>
            <a:chOff x="0" y="0"/>
            <a:chExt cx="7614056" cy="761424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614031" cy="7614285"/>
            </a:xfrm>
            <a:custGeom>
              <a:avLst/>
              <a:gdLst/>
              <a:ahLst/>
              <a:cxnLst/>
              <a:rect r="r" b="b" t="t" l="l"/>
              <a:pathLst>
                <a:path h="7614285" w="7614031">
                  <a:moveTo>
                    <a:pt x="0" y="0"/>
                  </a:moveTo>
                  <a:lnTo>
                    <a:pt x="7614031" y="0"/>
                  </a:lnTo>
                  <a:lnTo>
                    <a:pt x="7614031" y="7614285"/>
                  </a:lnTo>
                  <a:lnTo>
                    <a:pt x="0" y="7614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573750" y="4459843"/>
            <a:ext cx="424482" cy="530685"/>
            <a:chOff x="0" y="0"/>
            <a:chExt cx="565976" cy="7075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5974" cy="707585"/>
            </a:xfrm>
            <a:custGeom>
              <a:avLst/>
              <a:gdLst/>
              <a:ahLst/>
              <a:cxnLst/>
              <a:rect r="r" b="b" t="t" l="l"/>
              <a:pathLst>
                <a:path h="707585" w="565974">
                  <a:moveTo>
                    <a:pt x="0" y="0"/>
                  </a:moveTo>
                  <a:lnTo>
                    <a:pt x="565974" y="0"/>
                  </a:lnTo>
                  <a:lnTo>
                    <a:pt x="565974" y="707585"/>
                  </a:lnTo>
                  <a:lnTo>
                    <a:pt x="0" y="707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4" t="0" r="-11040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65976" cy="736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431639" y="6846256"/>
            <a:ext cx="487721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Compare Classifiers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1639" y="7402611"/>
            <a:ext cx="487721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Test multiple models.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95577" y="3019254"/>
            <a:ext cx="5710542" cy="5710685"/>
            <a:chOff x="0" y="0"/>
            <a:chExt cx="7614056" cy="761424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614031" cy="7614285"/>
            </a:xfrm>
            <a:custGeom>
              <a:avLst/>
              <a:gdLst/>
              <a:ahLst/>
              <a:cxnLst/>
              <a:rect r="r" b="b" t="t" l="l"/>
              <a:pathLst>
                <a:path h="7614285" w="7614031">
                  <a:moveTo>
                    <a:pt x="0" y="0"/>
                  </a:moveTo>
                  <a:lnTo>
                    <a:pt x="7614031" y="0"/>
                  </a:lnTo>
                  <a:lnTo>
                    <a:pt x="7614031" y="7614285"/>
                  </a:lnTo>
                  <a:lnTo>
                    <a:pt x="0" y="7614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7756" y="7244363"/>
            <a:ext cx="424482" cy="530685"/>
            <a:chOff x="0" y="0"/>
            <a:chExt cx="565976" cy="707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5974" cy="707585"/>
            </a:xfrm>
            <a:custGeom>
              <a:avLst/>
              <a:gdLst/>
              <a:ahLst/>
              <a:cxnLst/>
              <a:rect r="r" b="b" t="t" l="l"/>
              <a:pathLst>
                <a:path h="707585" w="565974">
                  <a:moveTo>
                    <a:pt x="0" y="0"/>
                  </a:moveTo>
                  <a:lnTo>
                    <a:pt x="565974" y="0"/>
                  </a:lnTo>
                  <a:lnTo>
                    <a:pt x="565974" y="707585"/>
                  </a:lnTo>
                  <a:lnTo>
                    <a:pt x="0" y="707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4" t="0" r="-11040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65976" cy="736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92991" y="6619265"/>
            <a:ext cx="487706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Performance Evaluation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991" y="7175621"/>
            <a:ext cx="4877067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Measure results with standard metrics.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295577" y="3019254"/>
            <a:ext cx="5710542" cy="5710685"/>
            <a:chOff x="0" y="0"/>
            <a:chExt cx="7614056" cy="7614247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614031" cy="7614285"/>
            </a:xfrm>
            <a:custGeom>
              <a:avLst/>
              <a:gdLst/>
              <a:ahLst/>
              <a:cxnLst/>
              <a:rect r="r" b="b" t="t" l="l"/>
              <a:pathLst>
                <a:path h="7614285" w="7614031">
                  <a:moveTo>
                    <a:pt x="0" y="0"/>
                  </a:moveTo>
                  <a:lnTo>
                    <a:pt x="7614031" y="0"/>
                  </a:lnTo>
                  <a:lnTo>
                    <a:pt x="7614031" y="7614285"/>
                  </a:lnTo>
                  <a:lnTo>
                    <a:pt x="0" y="7614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03313" y="6758359"/>
            <a:ext cx="424482" cy="530685"/>
            <a:chOff x="0" y="0"/>
            <a:chExt cx="565976" cy="707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5974" cy="707585"/>
            </a:xfrm>
            <a:custGeom>
              <a:avLst/>
              <a:gdLst/>
              <a:ahLst/>
              <a:cxnLst/>
              <a:rect r="r" b="b" t="t" l="l"/>
              <a:pathLst>
                <a:path h="707585" w="565974">
                  <a:moveTo>
                    <a:pt x="0" y="0"/>
                  </a:moveTo>
                  <a:lnTo>
                    <a:pt x="565974" y="0"/>
                  </a:lnTo>
                  <a:lnTo>
                    <a:pt x="565974" y="707585"/>
                  </a:lnTo>
                  <a:lnTo>
                    <a:pt x="0" y="707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4" t="0" r="-11040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65976" cy="736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54265"/>
            <a:ext cx="16315868" cy="89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Data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18071"/>
            <a:ext cx="16315868" cy="4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Text Cleaning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785167"/>
            <a:ext cx="17230954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sequence prepares raw text for modeling.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6229" y="3560369"/>
            <a:ext cx="38129" cy="5632780"/>
            <a:chOff x="0" y="0"/>
            <a:chExt cx="50838" cy="75103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7510399"/>
            </a:xfrm>
            <a:custGeom>
              <a:avLst/>
              <a:gdLst/>
              <a:ahLst/>
              <a:cxnLst/>
              <a:rect r="r" b="b" t="t" l="l"/>
              <a:pathLst>
                <a:path h="751039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484999"/>
                  </a:lnTo>
                  <a:cubicBezTo>
                    <a:pt x="50800" y="7499096"/>
                    <a:pt x="39370" y="7510399"/>
                    <a:pt x="25400" y="7510399"/>
                  </a:cubicBezTo>
                  <a:cubicBezTo>
                    <a:pt x="11430" y="7510399"/>
                    <a:pt x="0" y="7498969"/>
                    <a:pt x="0" y="7484999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1348" y="3844557"/>
            <a:ext cx="808596" cy="38129"/>
            <a:chOff x="0" y="0"/>
            <a:chExt cx="1078128" cy="508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991" y="3560369"/>
            <a:ext cx="606485" cy="606504"/>
            <a:chOff x="0" y="0"/>
            <a:chExt cx="808647" cy="808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094118" y="3661429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2"/>
                </a:lnTo>
                <a:lnTo>
                  <a:pt x="0" y="404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43997" y="3581276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Lowercase text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61348" y="4868694"/>
            <a:ext cx="808596" cy="38129"/>
            <a:chOff x="0" y="0"/>
            <a:chExt cx="1078128" cy="50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991" y="4584516"/>
            <a:ext cx="606485" cy="606504"/>
            <a:chOff x="0" y="0"/>
            <a:chExt cx="808647" cy="808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094118" y="4685567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1"/>
                </a:lnTo>
                <a:lnTo>
                  <a:pt x="0" y="404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43997" y="4605414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Remove URLs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1348" y="5892841"/>
            <a:ext cx="808596" cy="38129"/>
            <a:chOff x="0" y="0"/>
            <a:chExt cx="1078128" cy="50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2991" y="5608653"/>
            <a:ext cx="606485" cy="606504"/>
            <a:chOff x="0" y="0"/>
            <a:chExt cx="808647" cy="8086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094118" y="5709714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1"/>
                </a:lnTo>
                <a:lnTo>
                  <a:pt x="0" y="404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43997" y="5629561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Strip punctuation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61348" y="6916979"/>
            <a:ext cx="808596" cy="38129"/>
            <a:chOff x="0" y="0"/>
            <a:chExt cx="1078128" cy="50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92991" y="6632791"/>
            <a:ext cx="606485" cy="606504"/>
            <a:chOff x="0" y="0"/>
            <a:chExt cx="808647" cy="808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094118" y="6733851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2"/>
                </a:lnTo>
                <a:lnTo>
                  <a:pt x="0" y="404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643997" y="6653698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Remove special characters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61348" y="7941126"/>
            <a:ext cx="808596" cy="38129"/>
            <a:chOff x="0" y="0"/>
            <a:chExt cx="1078128" cy="508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92991" y="7656938"/>
            <a:ext cx="606485" cy="606504"/>
            <a:chOff x="0" y="0"/>
            <a:chExt cx="808647" cy="808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1094118" y="7757998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2"/>
                </a:lnTo>
                <a:lnTo>
                  <a:pt x="0" y="404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643997" y="7677845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Remove numbers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561348" y="8965263"/>
            <a:ext cx="808596" cy="38129"/>
            <a:chOff x="0" y="0"/>
            <a:chExt cx="1078128" cy="508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8103" cy="50800"/>
            </a:xfrm>
            <a:custGeom>
              <a:avLst/>
              <a:gdLst/>
              <a:ahLst/>
              <a:cxnLst/>
              <a:rect r="r" b="b" t="t" l="l"/>
              <a:pathLst>
                <a:path h="50800" w="107810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52703" y="0"/>
                  </a:lnTo>
                  <a:cubicBezTo>
                    <a:pt x="1066800" y="0"/>
                    <a:pt x="1078103" y="11430"/>
                    <a:pt x="1078103" y="25400"/>
                  </a:cubicBezTo>
                  <a:cubicBezTo>
                    <a:pt x="1078103" y="39370"/>
                    <a:pt x="1066673" y="50800"/>
                    <a:pt x="1052703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2991" y="8681085"/>
            <a:ext cx="606485" cy="606504"/>
            <a:chOff x="0" y="0"/>
            <a:chExt cx="808647" cy="808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8736" cy="808736"/>
            </a:xfrm>
            <a:custGeom>
              <a:avLst/>
              <a:gdLst/>
              <a:ahLst/>
              <a:cxnLst/>
              <a:rect r="r" b="b" t="t" l="l"/>
              <a:pathLst>
                <a:path h="808736" w="808736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754761" y="0"/>
                  </a:lnTo>
                  <a:cubicBezTo>
                    <a:pt x="784479" y="0"/>
                    <a:pt x="808736" y="24130"/>
                    <a:pt x="808736" y="53975"/>
                  </a:cubicBezTo>
                  <a:lnTo>
                    <a:pt x="808736" y="754761"/>
                  </a:lnTo>
                  <a:cubicBezTo>
                    <a:pt x="808736" y="784479"/>
                    <a:pt x="784606" y="808736"/>
                    <a:pt x="754761" y="808736"/>
                  </a:cubicBezTo>
                  <a:lnTo>
                    <a:pt x="53975" y="808736"/>
                  </a:lnTo>
                  <a:cubicBezTo>
                    <a:pt x="24130" y="808609"/>
                    <a:pt x="0" y="784479"/>
                    <a:pt x="0" y="75476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Freeform 45" id="45" descr="preencoded.png"/>
          <p:cNvSpPr/>
          <p:nvPr/>
        </p:nvSpPr>
        <p:spPr>
          <a:xfrm flipH="false" flipV="false" rot="0">
            <a:off x="1094118" y="8782136"/>
            <a:ext cx="404222" cy="404231"/>
          </a:xfrm>
          <a:custGeom>
            <a:avLst/>
            <a:gdLst/>
            <a:ahLst/>
            <a:cxnLst/>
            <a:rect r="r" b="b" t="t" l="l"/>
            <a:pathLst>
              <a:path h="404231" w="404222">
                <a:moveTo>
                  <a:pt x="0" y="0"/>
                </a:moveTo>
                <a:lnTo>
                  <a:pt x="404222" y="0"/>
                </a:lnTo>
                <a:lnTo>
                  <a:pt x="404222" y="404231"/>
                </a:lnTo>
                <a:lnTo>
                  <a:pt x="0" y="404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41" t="0" r="-8141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643997" y="8701983"/>
            <a:ext cx="14664852" cy="48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Remove extra spaces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11349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Technologies Used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32264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5831" r="0" b="-1583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3216183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3772538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Core language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9819" y="232264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834" t="0" r="-583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49819" y="3216183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9819" y="3772538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Load and clean data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106646" y="232264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164" r="0" b="-91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06646" y="3216183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NumPy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6646" y="3772538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 numerical computing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487972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0836" t="0" r="-3083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92991" y="5773264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NLTK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6329610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Text processing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49819" y="487972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49819" y="5773264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TF-IDF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9819" y="6329610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Text feature extraction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2106646" y="4879724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5002" t="0" r="-500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106646" y="5773264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Matplotlib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06646" y="6329610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visualization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992991" y="7436796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998" r="0" b="-499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92991" y="8330336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Jupyter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991" y="8886692"/>
            <a:ext cx="520220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Build and test notebooks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3460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4233" y="2524754"/>
            <a:ext cx="15793231" cy="5926503"/>
            <a:chOff x="0" y="0"/>
            <a:chExt cx="21057641" cy="790200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57615" cy="7901940"/>
            </a:xfrm>
            <a:custGeom>
              <a:avLst/>
              <a:gdLst/>
              <a:ahLst/>
              <a:cxnLst/>
              <a:rect r="r" b="b" t="t" l="l"/>
              <a:pathLst>
                <a:path h="7901940" w="21057615">
                  <a:moveTo>
                    <a:pt x="0" y="0"/>
                  </a:moveTo>
                  <a:lnTo>
                    <a:pt x="21057615" y="0"/>
                  </a:lnTo>
                  <a:lnTo>
                    <a:pt x="21057615" y="7901940"/>
                  </a:lnTo>
                  <a:lnTo>
                    <a:pt x="0" y="790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015018" y="6754530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Predict Real/Fake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2929" y="6754530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Train Logistic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7146" y="6754530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TF-IDF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41373" y="6754530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NLP Preprocess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0334" y="6983968"/>
            <a:ext cx="2382098" cy="48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Collect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8684724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Each stage turns raw text into a clear classification signal — collect, clean, vectorize, train, predict.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323861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Machine Learning Models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835154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3870493"/>
            <a:ext cx="798054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Logistic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426849"/>
            <a:ext cx="7980540" cy="116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 and effective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Strong for text classification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8156" y="2835154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998" r="0" b="-1399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8156" y="3870493"/>
            <a:ext cx="798069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Decision Tree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8156" y="4426849"/>
            <a:ext cx="7980693" cy="116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Rule-based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Easy to interpret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991" y="7193594"/>
            <a:ext cx="7980540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Random Forest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7749950"/>
            <a:ext cx="7980540" cy="116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Ensemble method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Helps reduce overfitting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8156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98" r="0" b="-199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8156" y="7193594"/>
            <a:ext cx="798069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Gradient Boosting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8156" y="7749950"/>
            <a:ext cx="7980693" cy="116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Builds sequentially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High accuracy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930365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Results &amp; Performance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299717"/>
            <a:ext cx="8015992" cy="1634966"/>
            <a:chOff x="0" y="0"/>
            <a:chExt cx="10687990" cy="21799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88065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68806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31297" y="0"/>
                  </a:lnTo>
                  <a:cubicBezTo>
                    <a:pt x="10662665" y="0"/>
                    <a:pt x="10688065" y="25400"/>
                    <a:pt x="10688065" y="56769"/>
                  </a:cubicBezTo>
                  <a:lnTo>
                    <a:pt x="10688065" y="2123186"/>
                  </a:lnTo>
                  <a:cubicBezTo>
                    <a:pt x="10688065" y="2154555"/>
                    <a:pt x="10662665" y="2179955"/>
                    <a:pt x="10631297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6721" y="3554882"/>
            <a:ext cx="744853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721" y="4111228"/>
            <a:ext cx="7448531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90%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90 correct predictions out of 100 total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2714" y="3299717"/>
            <a:ext cx="8016145" cy="1634966"/>
            <a:chOff x="0" y="0"/>
            <a:chExt cx="10688193" cy="21799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88193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68819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31424" y="0"/>
                  </a:lnTo>
                  <a:cubicBezTo>
                    <a:pt x="10662793" y="0"/>
                    <a:pt x="10688193" y="25400"/>
                    <a:pt x="10688193" y="56769"/>
                  </a:cubicBezTo>
                  <a:lnTo>
                    <a:pt x="10688193" y="2123186"/>
                  </a:lnTo>
                  <a:cubicBezTo>
                    <a:pt x="10688193" y="2154555"/>
                    <a:pt x="10662793" y="2179955"/>
                    <a:pt x="10631424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76445" y="3554882"/>
            <a:ext cx="744867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Precision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6445" y="4111228"/>
            <a:ext cx="744867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87.5%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35 true positives out of 40 predicted fakes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5218424"/>
            <a:ext cx="8015992" cy="1634966"/>
            <a:chOff x="0" y="0"/>
            <a:chExt cx="10687990" cy="217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88065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68806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31297" y="0"/>
                  </a:lnTo>
                  <a:cubicBezTo>
                    <a:pt x="10662665" y="0"/>
                    <a:pt x="10688065" y="25400"/>
                    <a:pt x="10688065" y="56769"/>
                  </a:cubicBezTo>
                  <a:lnTo>
                    <a:pt x="10688065" y="2123186"/>
                  </a:lnTo>
                  <a:cubicBezTo>
                    <a:pt x="10688065" y="2154555"/>
                    <a:pt x="10662665" y="2179955"/>
                    <a:pt x="10631297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6721" y="5473579"/>
            <a:ext cx="744853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Recall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721" y="6029935"/>
            <a:ext cx="7448531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90%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45 true positives out of 50 actual fakes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92714" y="5218424"/>
            <a:ext cx="8016145" cy="1634966"/>
            <a:chOff x="0" y="0"/>
            <a:chExt cx="10688193" cy="217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88193" cy="2179955"/>
            </a:xfrm>
            <a:custGeom>
              <a:avLst/>
              <a:gdLst/>
              <a:ahLst/>
              <a:cxnLst/>
              <a:rect r="r" b="b" t="t" l="l"/>
              <a:pathLst>
                <a:path h="2179955" w="1068819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31424" y="0"/>
                  </a:lnTo>
                  <a:cubicBezTo>
                    <a:pt x="10662793" y="0"/>
                    <a:pt x="10688193" y="25400"/>
                    <a:pt x="10688193" y="56769"/>
                  </a:cubicBezTo>
                  <a:lnTo>
                    <a:pt x="10688193" y="2123186"/>
                  </a:lnTo>
                  <a:cubicBezTo>
                    <a:pt x="10688193" y="2154555"/>
                    <a:pt x="10662793" y="2179955"/>
                    <a:pt x="10631424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76445" y="5473579"/>
            <a:ext cx="744867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F1-Score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6445" y="6029935"/>
            <a:ext cx="744867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84.7%</a:t>
            </a:r>
            <a:r>
              <a:rPr lang="en-US" sz="21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harmonic mean of precision and recall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7172573"/>
            <a:ext cx="16315868" cy="1134808"/>
            <a:chOff x="0" y="0"/>
            <a:chExt cx="21754490" cy="15130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54464" cy="1513078"/>
            </a:xfrm>
            <a:custGeom>
              <a:avLst/>
              <a:gdLst/>
              <a:ahLst/>
              <a:cxnLst/>
              <a:rect r="r" b="b" t="t" l="l"/>
              <a:pathLst>
                <a:path h="1513078" w="2175446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1456309"/>
                  </a:lnTo>
                  <a:cubicBezTo>
                    <a:pt x="21754464" y="1487678"/>
                    <a:pt x="21729064" y="1513078"/>
                    <a:pt x="21697696" y="1513078"/>
                  </a:cubicBezTo>
                  <a:lnTo>
                    <a:pt x="56769" y="1513078"/>
                  </a:lnTo>
                  <a:cubicBezTo>
                    <a:pt x="25400" y="1513078"/>
                    <a:pt x="0" y="1487678"/>
                    <a:pt x="0" y="1456309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6721" y="7574423"/>
            <a:ext cx="354625" cy="283740"/>
            <a:chOff x="0" y="0"/>
            <a:chExt cx="472834" cy="37832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4" t="0" r="-676" b="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915077" y="7441482"/>
            <a:ext cx="16025136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TF-IDF improved performance on unseen articles.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4165454"/>
            <a:ext cx="16315868" cy="186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63"/>
              </a:lnSpc>
            </a:pPr>
            <a:r>
              <a:rPr lang="en-US" sz="11108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DAHPq10vTYk</dc:identifier>
  <dcterms:modified xsi:type="dcterms:W3CDTF">2011-08-01T06:04:30Z</dcterms:modified>
  <cp:revision>1</cp:revision>
  <dc:title>Fake-News-Detection-with-Machine-Learning.pptx</dc:title>
</cp:coreProperties>
</file>